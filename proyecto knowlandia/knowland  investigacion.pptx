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aser Arabic Bold" charset="1" panose="00000800000000000000"/>
      <p:regular r:id="rId15"/>
    </p:embeddedFont>
    <p:embeddedFont>
      <p:font typeface="Niconne" charset="1" panose="02000505050000020002"/>
      <p:regular r:id="rId16"/>
    </p:embeddedFont>
    <p:embeddedFont>
      <p:font typeface="Montaser Arabic Semi-Bold" charset="1" panose="00000700000000000000"/>
      <p:regular r:id="rId17"/>
    </p:embeddedFont>
    <p:embeddedFont>
      <p:font typeface="Montaser Arabic" charset="1" panose="00000500000000000000"/>
      <p:regular r:id="rId18"/>
    </p:embeddedFont>
    <p:embeddedFont>
      <p:font typeface="Montaser Arabic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95862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KNOWLAND</a:t>
            </a:r>
          </a:p>
        </p:txBody>
      </p:sp>
      <p:sp>
        <p:nvSpPr>
          <p:cNvPr name="AutoShape 3" id="3"/>
          <p:cNvSpPr/>
          <p:nvPr/>
        </p:nvSpPr>
        <p:spPr>
          <a:xfrm>
            <a:off x="3502178" y="4652264"/>
            <a:ext cx="11384653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78663" y="2489996"/>
            <a:ext cx="4432764" cy="29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029"/>
              </a:lnSpc>
              <a:spcBef>
                <a:spcPct val="0"/>
              </a:spcBef>
            </a:pPr>
            <a:r>
              <a:rPr lang="en-US" sz="22029" spc="793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42139" y="2892866"/>
            <a:ext cx="9225616" cy="156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46"/>
              </a:lnSpc>
              <a:spcBef>
                <a:spcPct val="0"/>
              </a:spcBef>
            </a:pPr>
            <a:r>
              <a:rPr lang="en-US" sz="11746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8930" y="7555566"/>
            <a:ext cx="1005013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9"/>
              </a:lnSpc>
              <a:spcBef>
                <a:spcPct val="0"/>
              </a:spcBef>
            </a:pPr>
            <a:r>
              <a:rPr lang="en-US" b="true" sz="2132" spc="140">
                <a:solidFill>
                  <a:srgbClr val="1E1E1E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realizado por Elizabeth padilla</a:t>
            </a:r>
          </a:p>
        </p:txBody>
      </p: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628186" y="4083557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57706" y="4101211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34622" y="-1325188"/>
            <a:ext cx="5024430" cy="12435691"/>
            <a:chOff x="0" y="0"/>
            <a:chExt cx="1323307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3307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23307">
                  <a:moveTo>
                    <a:pt x="0" y="0"/>
                  </a:moveTo>
                  <a:lnTo>
                    <a:pt x="1323307" y="0"/>
                  </a:lnTo>
                  <a:lnTo>
                    <a:pt x="1323307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23307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93" y="837984"/>
            <a:ext cx="7829328" cy="8576927"/>
            <a:chOff x="0" y="0"/>
            <a:chExt cx="1082875" cy="11862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875" cy="1186276"/>
            </a:xfrm>
            <a:custGeom>
              <a:avLst/>
              <a:gdLst/>
              <a:ahLst/>
              <a:cxnLst/>
              <a:rect r="r" b="b" t="t" l="l"/>
              <a:pathLst>
                <a:path h="1186276" w="1082875">
                  <a:moveTo>
                    <a:pt x="10877" y="0"/>
                  </a:moveTo>
                  <a:lnTo>
                    <a:pt x="1071998" y="0"/>
                  </a:lnTo>
                  <a:cubicBezTo>
                    <a:pt x="1074883" y="0"/>
                    <a:pt x="1077650" y="1146"/>
                    <a:pt x="1079690" y="3186"/>
                  </a:cubicBezTo>
                  <a:cubicBezTo>
                    <a:pt x="1081730" y="5226"/>
                    <a:pt x="1082875" y="7992"/>
                    <a:pt x="1082875" y="10877"/>
                  </a:cubicBezTo>
                  <a:lnTo>
                    <a:pt x="1082875" y="1175399"/>
                  </a:lnTo>
                  <a:cubicBezTo>
                    <a:pt x="1082875" y="1178284"/>
                    <a:pt x="1081730" y="1181050"/>
                    <a:pt x="1079690" y="1183090"/>
                  </a:cubicBezTo>
                  <a:cubicBezTo>
                    <a:pt x="1077650" y="1185130"/>
                    <a:pt x="1074883" y="1186276"/>
                    <a:pt x="1071998" y="1186276"/>
                  </a:cubicBezTo>
                  <a:lnTo>
                    <a:pt x="10877" y="1186276"/>
                  </a:lnTo>
                  <a:cubicBezTo>
                    <a:pt x="7992" y="1186276"/>
                    <a:pt x="5226" y="1185130"/>
                    <a:pt x="3186" y="1183090"/>
                  </a:cubicBezTo>
                  <a:cubicBezTo>
                    <a:pt x="1146" y="1181050"/>
                    <a:pt x="0" y="1178284"/>
                    <a:pt x="0" y="1175399"/>
                  </a:cubicBezTo>
                  <a:lnTo>
                    <a:pt x="0" y="10877"/>
                  </a:lnTo>
                  <a:cubicBezTo>
                    <a:pt x="0" y="7992"/>
                    <a:pt x="1146" y="5226"/>
                    <a:pt x="3186" y="3186"/>
                  </a:cubicBezTo>
                  <a:cubicBezTo>
                    <a:pt x="5226" y="1146"/>
                    <a:pt x="7992" y="0"/>
                    <a:pt x="10877" y="0"/>
                  </a:cubicBezTo>
                  <a:close/>
                </a:path>
              </a:pathLst>
            </a:custGeom>
            <a:blipFill>
              <a:blip r:embed="rId2"/>
              <a:stretch>
                <a:fillRect l="-32161" t="0" r="-32161" b="0"/>
              </a:stretch>
            </a:blipFill>
            <a:ln w="66675" cap="sq">
              <a:solidFill>
                <a:srgbClr val="121111"/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144000" y="2063636"/>
            <a:ext cx="9182554" cy="282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6969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¿QUE ES LA TRANSFORMACION DIGITAL?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078823"/>
            <a:ext cx="7024408" cy="270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transformación digital consiste en integrar la tecnología en las actividades de una empresa u organización para mejorar la forma en que trabaja y presta sus servicios.</a:t>
            </a:r>
          </a:p>
          <a:p>
            <a:pPr algn="l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 objetivo es hacer los procesos más rápidos, seguros y eficientes, mejorando la experiencia de clientes y usuarios.</a:t>
            </a:r>
          </a:p>
          <a:p>
            <a:pPr algn="l">
              <a:lnSpc>
                <a:spcPts val="271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61369" y="-1005934"/>
            <a:ext cx="5024430" cy="12435691"/>
            <a:chOff x="0" y="0"/>
            <a:chExt cx="1323307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3307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23307">
                  <a:moveTo>
                    <a:pt x="0" y="0"/>
                  </a:moveTo>
                  <a:lnTo>
                    <a:pt x="1323307" y="0"/>
                  </a:lnTo>
                  <a:lnTo>
                    <a:pt x="1323307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23307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15442" y="2537555"/>
            <a:ext cx="9288053" cy="5211889"/>
            <a:chOff x="0" y="0"/>
            <a:chExt cx="1716416" cy="9631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6416" cy="963148"/>
            </a:xfrm>
            <a:custGeom>
              <a:avLst/>
              <a:gdLst/>
              <a:ahLst/>
              <a:cxnLst/>
              <a:rect r="r" b="b" t="t" l="l"/>
              <a:pathLst>
                <a:path h="963148" w="1716416">
                  <a:moveTo>
                    <a:pt x="7502" y="0"/>
                  </a:moveTo>
                  <a:lnTo>
                    <a:pt x="1708914" y="0"/>
                  </a:lnTo>
                  <a:cubicBezTo>
                    <a:pt x="1710904" y="0"/>
                    <a:pt x="1712812" y="790"/>
                    <a:pt x="1714219" y="2197"/>
                  </a:cubicBezTo>
                  <a:cubicBezTo>
                    <a:pt x="1715626" y="3604"/>
                    <a:pt x="1716416" y="5512"/>
                    <a:pt x="1716416" y="7502"/>
                  </a:cubicBezTo>
                  <a:lnTo>
                    <a:pt x="1716416" y="955646"/>
                  </a:lnTo>
                  <a:cubicBezTo>
                    <a:pt x="1716416" y="957636"/>
                    <a:pt x="1715626" y="959544"/>
                    <a:pt x="1714219" y="960951"/>
                  </a:cubicBezTo>
                  <a:cubicBezTo>
                    <a:pt x="1712812" y="962358"/>
                    <a:pt x="1710904" y="963148"/>
                    <a:pt x="1708914" y="963148"/>
                  </a:cubicBezTo>
                  <a:lnTo>
                    <a:pt x="7502" y="963148"/>
                  </a:lnTo>
                  <a:cubicBezTo>
                    <a:pt x="5512" y="963148"/>
                    <a:pt x="3604" y="962358"/>
                    <a:pt x="2197" y="960951"/>
                  </a:cubicBezTo>
                  <a:cubicBezTo>
                    <a:pt x="790" y="959544"/>
                    <a:pt x="0" y="957636"/>
                    <a:pt x="0" y="955646"/>
                  </a:cubicBezTo>
                  <a:lnTo>
                    <a:pt x="0" y="7502"/>
                  </a:lnTo>
                  <a:cubicBezTo>
                    <a:pt x="0" y="5512"/>
                    <a:pt x="790" y="3604"/>
                    <a:pt x="2197" y="2197"/>
                  </a:cubicBezTo>
                  <a:cubicBezTo>
                    <a:pt x="3604" y="790"/>
                    <a:pt x="5512" y="0"/>
                    <a:pt x="7502" y="0"/>
                  </a:cubicBezTo>
                  <a:close/>
                </a:path>
              </a:pathLst>
            </a:custGeom>
            <a:ln w="66675" cap="sq">
              <a:solidFill>
                <a:srgbClr val="BC8D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716416" cy="991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715442" y="2605967"/>
            <a:ext cx="9288053" cy="5211889"/>
          </a:xfrm>
          <a:custGeom>
            <a:avLst/>
            <a:gdLst/>
            <a:ahLst/>
            <a:cxnLst/>
            <a:rect r="r" b="b" t="t" l="l"/>
            <a:pathLst>
              <a:path h="5211889" w="9288053">
                <a:moveTo>
                  <a:pt x="0" y="0"/>
                </a:moveTo>
                <a:lnTo>
                  <a:pt x="9288054" y="0"/>
                </a:lnTo>
                <a:lnTo>
                  <a:pt x="9288054" y="5211889"/>
                </a:lnTo>
                <a:lnTo>
                  <a:pt x="0" y="5211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0054" y="4959955"/>
            <a:ext cx="6399905" cy="466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7"/>
              </a:lnSpc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Colombia ha impulsado la transformación digital mediante diferentes iniciativas que buscan modernizar los servicios públicos y privados.</a:t>
            </a:r>
          </a:p>
          <a:p>
            <a:pPr algn="just">
              <a:lnSpc>
                <a:spcPts val="2847"/>
              </a:lnSpc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Algunos avances son:</a:t>
            </a:r>
          </a:p>
          <a:p>
            <a:pPr algn="just" marL="439169" indent="-219584" lvl="1">
              <a:lnSpc>
                <a:spcPts val="2847"/>
              </a:lnSpc>
              <a:buFont typeface="Arial"/>
              <a:buChar char="•"/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Digitalización de trámites.</a:t>
            </a:r>
          </a:p>
          <a:p>
            <a:pPr algn="just" marL="439169" indent="-219584" lvl="1">
              <a:lnSpc>
                <a:spcPts val="2847"/>
              </a:lnSpc>
              <a:buFont typeface="Arial"/>
              <a:buChar char="•"/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Facturación electrónica.</a:t>
            </a:r>
          </a:p>
          <a:p>
            <a:pPr algn="just" marL="439169" indent="-219584" lvl="1">
              <a:lnSpc>
                <a:spcPts val="2847"/>
              </a:lnSpc>
              <a:buFont typeface="Arial"/>
              <a:buChar char="•"/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Educación virtual.</a:t>
            </a:r>
          </a:p>
          <a:p>
            <a:pPr algn="just" marL="439169" indent="-219584" lvl="1">
              <a:lnSpc>
                <a:spcPts val="2847"/>
              </a:lnSpc>
              <a:buFont typeface="Arial"/>
              <a:buChar char="•"/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Pagos digitales.</a:t>
            </a:r>
          </a:p>
          <a:p>
            <a:pPr algn="just" marL="439169" indent="-219584" lvl="1">
              <a:lnSpc>
                <a:spcPts val="2847"/>
              </a:lnSpc>
              <a:buFont typeface="Arial"/>
              <a:buChar char="•"/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Mayor acceso a internet.</a:t>
            </a:r>
          </a:p>
          <a:p>
            <a:pPr algn="just" marL="439169" indent="-219584" lvl="1">
              <a:lnSpc>
                <a:spcPts val="2847"/>
              </a:lnSpc>
              <a:buFont typeface="Arial"/>
              <a:buChar char="•"/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Crecimiento del comercio electrónico.</a:t>
            </a:r>
          </a:p>
          <a:p>
            <a:pPr algn="just">
              <a:lnSpc>
                <a:spcPts val="2847"/>
              </a:lnSpc>
            </a:pPr>
            <a:r>
              <a:rPr lang="en-US" sz="2034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Estos avances permiten que las empresas sean más competitivas y ofrezcan mejores servicios.</a:t>
            </a:r>
          </a:p>
          <a:p>
            <a:pPr algn="just">
              <a:lnSpc>
                <a:spcPts val="284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31320" y="2057217"/>
            <a:ext cx="7032593" cy="279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3"/>
              </a:lnSpc>
              <a:spcBef>
                <a:spcPct val="0"/>
              </a:spcBef>
            </a:pPr>
            <a:r>
              <a:rPr lang="en-US" b="true" sz="5345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LA TRASNFORMACION DIGITAL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0054" y="847725"/>
            <a:ext cx="6335213" cy="164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79"/>
              </a:lnSpc>
              <a:spcBef>
                <a:spcPct val="0"/>
              </a:spcBef>
            </a:pPr>
            <a:r>
              <a:rPr lang="en-US" sz="9627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Avance 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480426" y="1812679"/>
            <a:ext cx="7807574" cy="6046874"/>
          </a:xfrm>
          <a:custGeom>
            <a:avLst/>
            <a:gdLst/>
            <a:ahLst/>
            <a:cxnLst/>
            <a:rect r="r" b="b" t="t" l="l"/>
            <a:pathLst>
              <a:path h="6046874" w="7807574">
                <a:moveTo>
                  <a:pt x="0" y="0"/>
                </a:moveTo>
                <a:lnTo>
                  <a:pt x="7807574" y="0"/>
                </a:lnTo>
                <a:lnTo>
                  <a:pt x="7807574" y="6046874"/>
                </a:lnTo>
                <a:lnTo>
                  <a:pt x="0" y="6046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218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29157" y="1066800"/>
            <a:ext cx="7608234" cy="2782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3"/>
              </a:lnSpc>
            </a:pPr>
            <a:r>
              <a:rPr lang="en-US" b="true" sz="640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¿QUE SON LAS CIUDADES INTELIGENTES?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11195"/>
            <a:ext cx="8688624" cy="493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6"/>
              </a:lnSpc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 ciudad inteligente utiliza la tecnología para mejorar la calidad de vida de sus habitantes.</a:t>
            </a:r>
          </a:p>
          <a:p>
            <a:pPr algn="just">
              <a:lnSpc>
                <a:spcPts val="3376"/>
              </a:lnSpc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 caracteriza por:</a:t>
            </a:r>
          </a:p>
          <a:p>
            <a:pPr algn="just" marL="520633" indent="-260316" lvl="1">
              <a:lnSpc>
                <a:spcPts val="3376"/>
              </a:lnSpc>
              <a:buFont typeface="Arial"/>
              <a:buChar char="•"/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Servicios públicos digitales.</a:t>
            </a:r>
          </a:p>
          <a:p>
            <a:pPr algn="just" marL="520633" indent="-260316" lvl="1">
              <a:lnSpc>
                <a:spcPts val="3376"/>
              </a:lnSpc>
              <a:buFont typeface="Arial"/>
              <a:buChar char="•"/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Movilidad inteligente.</a:t>
            </a:r>
          </a:p>
          <a:p>
            <a:pPr algn="just" marL="520633" indent="-260316" lvl="1">
              <a:lnSpc>
                <a:spcPts val="3376"/>
              </a:lnSpc>
              <a:buFont typeface="Arial"/>
              <a:buChar char="•"/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Seguridad mediante tecnología.</a:t>
            </a:r>
          </a:p>
          <a:p>
            <a:pPr algn="just" marL="520633" indent="-260316" lvl="1">
              <a:lnSpc>
                <a:spcPts val="3376"/>
              </a:lnSpc>
              <a:buFont typeface="Arial"/>
              <a:buChar char="•"/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 eficiente de recursos.</a:t>
            </a:r>
          </a:p>
          <a:p>
            <a:pPr algn="just" marL="520633" indent="-260316" lvl="1">
              <a:lnSpc>
                <a:spcPts val="3376"/>
              </a:lnSpc>
              <a:buFont typeface="Arial"/>
              <a:buChar char="•"/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Educación apoyada por herramientas digitales.</a:t>
            </a:r>
          </a:p>
          <a:p>
            <a:pPr algn="just" marL="520633" indent="-260316" lvl="1">
              <a:lnSpc>
                <a:spcPts val="3376"/>
              </a:lnSpc>
              <a:buFont typeface="Arial"/>
              <a:buChar char="•"/>
            </a:pPr>
            <a:r>
              <a:rPr lang="en-US" sz="2411" spc="5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Participación ciudadana mediante plataformas tecnológicas.</a:t>
            </a:r>
          </a:p>
          <a:p>
            <a:pPr algn="just">
              <a:lnSpc>
                <a:spcPts val="570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0078" y="-597720"/>
            <a:ext cx="5099886" cy="12435691"/>
            <a:chOff x="0" y="0"/>
            <a:chExt cx="1343180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180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43180">
                  <a:moveTo>
                    <a:pt x="0" y="0"/>
                  </a:moveTo>
                  <a:lnTo>
                    <a:pt x="1343180" y="0"/>
                  </a:lnTo>
                  <a:lnTo>
                    <a:pt x="1343180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BC8D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43180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2354" y="1838528"/>
            <a:ext cx="6370954" cy="6907611"/>
            <a:chOff x="0" y="0"/>
            <a:chExt cx="8494606" cy="92101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94606" cy="3021358"/>
            </a:xfrm>
            <a:custGeom>
              <a:avLst/>
              <a:gdLst/>
              <a:ahLst/>
              <a:cxnLst/>
              <a:rect r="r" b="b" t="t" l="l"/>
              <a:pathLst>
                <a:path h="3021358" w="8494606">
                  <a:moveTo>
                    <a:pt x="0" y="0"/>
                  </a:moveTo>
                  <a:lnTo>
                    <a:pt x="8494606" y="0"/>
                  </a:lnTo>
                  <a:lnTo>
                    <a:pt x="8494606" y="3021358"/>
                  </a:lnTo>
                  <a:lnTo>
                    <a:pt x="0" y="3021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936" r="0" b="-19936"/>
              </a:stretch>
            </a:blipFill>
            <a:ln w="66675" cap="sq">
              <a:solidFill>
                <a:srgbClr val="BC8DFF"/>
              </a:solidFill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155" y="3578519"/>
              <a:ext cx="8487451" cy="5631630"/>
            </a:xfrm>
            <a:custGeom>
              <a:avLst/>
              <a:gdLst/>
              <a:ahLst/>
              <a:cxnLst/>
              <a:rect r="r" b="b" t="t" l="l"/>
              <a:pathLst>
                <a:path h="5631630" w="8487451">
                  <a:moveTo>
                    <a:pt x="0" y="0"/>
                  </a:moveTo>
                  <a:lnTo>
                    <a:pt x="8487451" y="0"/>
                  </a:lnTo>
                  <a:lnTo>
                    <a:pt x="8487451" y="5631630"/>
                  </a:lnTo>
                  <a:lnTo>
                    <a:pt x="0" y="5631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023" t="0" r="-9023" b="0"/>
              </a:stretch>
            </a:blipFill>
            <a:ln w="66675" cap="sq">
              <a:solidFill>
                <a:srgbClr val="BC8DFF"/>
              </a:solidFill>
              <a:prstDash val="solid"/>
              <a:miter/>
            </a:ln>
          </p:spPr>
        </p:sp>
      </p:grpSp>
      <p:sp>
        <p:nvSpPr>
          <p:cNvPr name="AutoShape 8" id="8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742354" y="1838528"/>
            <a:ext cx="6370954" cy="6907611"/>
          </a:xfrm>
          <a:custGeom>
            <a:avLst/>
            <a:gdLst/>
            <a:ahLst/>
            <a:cxnLst/>
            <a:rect r="r" b="b" t="t" l="l"/>
            <a:pathLst>
              <a:path h="6907611" w="6370954">
                <a:moveTo>
                  <a:pt x="0" y="0"/>
                </a:moveTo>
                <a:lnTo>
                  <a:pt x="6370954" y="0"/>
                </a:lnTo>
                <a:lnTo>
                  <a:pt x="6370954" y="6907611"/>
                </a:lnTo>
                <a:lnTo>
                  <a:pt x="0" y="6907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76" t="0" r="-8476" b="-125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36956" y="1535473"/>
            <a:ext cx="9036496" cy="230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7"/>
              </a:lnSpc>
              <a:spcBef>
                <a:spcPct val="0"/>
              </a:spcBef>
            </a:pPr>
            <a:r>
              <a:rPr lang="en-US" b="true" sz="6605" spc="21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OPORTUNIDADES PARA GIRARDOT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36956" y="3796580"/>
            <a:ext cx="7654531" cy="472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3"/>
              </a:lnSpc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Girardot es una ciudad con gran actividad comercial, turística y educativa. Muchas empresas pueden mejorar mediante soluciones de software para: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Hoteles.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Restaurantes.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Instituciones educativas.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Clínicas.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Comercio.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 documental.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Inventarios.</a:t>
            </a:r>
          </a:p>
          <a:p>
            <a:pPr algn="just" marL="421566" indent="-210783" lvl="1">
              <a:lnSpc>
                <a:spcPts val="2733"/>
              </a:lnSpc>
              <a:buFont typeface="Arial"/>
              <a:buChar char="•"/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Atención al cliente.</a:t>
            </a:r>
          </a:p>
          <a:p>
            <a:pPr algn="just">
              <a:lnSpc>
                <a:spcPts val="2733"/>
              </a:lnSpc>
            </a:pPr>
            <a:r>
              <a:rPr lang="en-US" sz="19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Esto representa una gran oportunidad para los desarrolladores de software.</a:t>
            </a:r>
          </a:p>
          <a:p>
            <a:pPr algn="just">
              <a:lnSpc>
                <a:spcPts val="273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74688" y="2647720"/>
            <a:ext cx="10738624" cy="14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9"/>
              </a:lnSpc>
            </a:pPr>
            <a:r>
              <a:rPr lang="en-US" sz="10339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Knowland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071299" y="2868830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8" y="0"/>
                </a:lnTo>
                <a:lnTo>
                  <a:pt x="865568" y="865568"/>
                </a:lnTo>
                <a:lnTo>
                  <a:pt x="0" y="86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8275" y="1190625"/>
            <a:ext cx="17589725" cy="161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85"/>
              </a:lnSpc>
            </a:pPr>
            <a:r>
              <a:rPr lang="en-US" b="true" sz="1168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NUESTRO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0377" y="4584158"/>
            <a:ext cx="15867246" cy="42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Knowland es una plataforma educativa diseñada para fortalecer el aprendizaje del idioma inglés mediante la gamificación.</a:t>
            </a:r>
          </a:p>
          <a:p>
            <a:pPr algn="l">
              <a:lnSpc>
                <a:spcPts val="3081"/>
              </a:lnSpc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 estudiantes aprenderán mientras juegan gracias a:</a:t>
            </a:r>
          </a:p>
          <a:p>
            <a:pPr algn="l" marL="475223" indent="-237611" lvl="1">
              <a:lnSpc>
                <a:spcPts val="3081"/>
              </a:lnSpc>
              <a:buFont typeface="Arial"/>
              <a:buChar char="•"/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Cuestionarios.</a:t>
            </a:r>
          </a:p>
          <a:p>
            <a:pPr algn="l" marL="475223" indent="-237611" lvl="1">
              <a:lnSpc>
                <a:spcPts val="3081"/>
              </a:lnSpc>
              <a:buFont typeface="Arial"/>
              <a:buChar char="•"/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Retos.</a:t>
            </a:r>
          </a:p>
          <a:p>
            <a:pPr algn="l" marL="475223" indent="-237611" lvl="1">
              <a:lnSpc>
                <a:spcPts val="3081"/>
              </a:lnSpc>
              <a:buFont typeface="Arial"/>
              <a:buChar char="•"/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Niveles.</a:t>
            </a:r>
          </a:p>
          <a:p>
            <a:pPr algn="l" marL="475223" indent="-237611" lvl="1">
              <a:lnSpc>
                <a:spcPts val="3081"/>
              </a:lnSpc>
              <a:buFont typeface="Arial"/>
              <a:buChar char="•"/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Recompensas.</a:t>
            </a:r>
          </a:p>
          <a:p>
            <a:pPr algn="l" marL="475223" indent="-237611" lvl="1">
              <a:lnSpc>
                <a:spcPts val="3081"/>
              </a:lnSpc>
              <a:buFont typeface="Arial"/>
              <a:buChar char="•"/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Avatares personalizables.</a:t>
            </a:r>
          </a:p>
          <a:p>
            <a:pPr algn="l" marL="475223" indent="-237611" lvl="1">
              <a:lnSpc>
                <a:spcPts val="3081"/>
              </a:lnSpc>
              <a:buFont typeface="Arial"/>
              <a:buChar char="•"/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Seguimiento del progreso.</a:t>
            </a:r>
          </a:p>
          <a:p>
            <a:pPr algn="l">
              <a:lnSpc>
                <a:spcPts val="3081"/>
              </a:lnSpc>
            </a:pPr>
            <a:r>
              <a:rPr lang="en-US" sz="220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objetivo es convertir el aprendizaje del inglés en una experiencia divertida e interactiva.</a:t>
            </a:r>
          </a:p>
          <a:p>
            <a:pPr algn="l">
              <a:lnSpc>
                <a:spcPts val="3081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341905" y="2868830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7" y="0"/>
                </a:lnTo>
                <a:lnTo>
                  <a:pt x="865567" y="865568"/>
                </a:lnTo>
                <a:lnTo>
                  <a:pt x="0" y="86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342025" y="4179345"/>
            <a:ext cx="1316205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811" y="1870059"/>
            <a:ext cx="15156017" cy="272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5"/>
              </a:lnSpc>
            </a:pPr>
            <a:r>
              <a:rPr lang="en-US" b="true" sz="995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COMO CONTRIBUYE </a:t>
            </a:r>
          </a:p>
          <a:p>
            <a:pPr algn="ctr">
              <a:lnSpc>
                <a:spcPts val="10555"/>
              </a:lnSpc>
            </a:pPr>
            <a:r>
              <a:rPr lang="en-US" b="true" sz="995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KNOWLAND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77442" y="4819956"/>
            <a:ext cx="10537160" cy="465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30"/>
              </a:lnSpc>
            </a:pPr>
            <a:r>
              <a:rPr lang="en-US" sz="3235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Knowland aporta a la transformación digital porque:</a:t>
            </a:r>
          </a:p>
          <a:p>
            <a:pPr algn="just" marL="698633" indent="-349317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Promueve el aprendizaje mediante tecnología.</a:t>
            </a:r>
          </a:p>
          <a:p>
            <a:pPr algn="just" marL="698633" indent="-349317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Motiva a los estudiantes a practicar inglés.</a:t>
            </a:r>
          </a:p>
          <a:p>
            <a:pPr algn="just" marL="698633" indent="-349317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Apoya el trabajo de los docentes.</a:t>
            </a:r>
          </a:p>
          <a:p>
            <a:pPr algn="just" marL="698633" indent="-349317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Facilita el aprendizaje desde cualquier lugar.</a:t>
            </a:r>
          </a:p>
          <a:p>
            <a:pPr algn="just" marL="698633" indent="-349317" lvl="1">
              <a:lnSpc>
                <a:spcPts val="4530"/>
              </a:lnSpc>
              <a:buFont typeface="Arial"/>
              <a:buChar char="•"/>
            </a:pPr>
            <a:r>
              <a:rPr lang="en-US" sz="3235">
                <a:solidFill>
                  <a:srgbClr val="FFFFFF"/>
                </a:solidFill>
                <a:latin typeface="Montaser Arabic Light"/>
                <a:ea typeface="Montaser Arabic Light"/>
                <a:cs typeface="Montaser Arabic Light"/>
                <a:sym typeface="Montaser Arabic Light"/>
              </a:rPr>
              <a:t>Utiliza herramientas digitales para mejorar la educación.</a:t>
            </a:r>
          </a:p>
          <a:p>
            <a:pPr algn="just">
              <a:lnSpc>
                <a:spcPts val="6082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99644" y="4078140"/>
            <a:ext cx="11964805" cy="485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125" indent="-305062" lvl="1">
              <a:lnSpc>
                <a:spcPts val="3956"/>
              </a:lnSpc>
              <a:buFont typeface="Arial"/>
              <a:buChar char="•"/>
            </a:pPr>
            <a:r>
              <a:rPr lang="en-US" sz="2825" spc="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transformación digital está cambiando la forma en que aprendemos y trabajamos.</a:t>
            </a:r>
          </a:p>
          <a:p>
            <a:pPr algn="l" marL="610125" indent="-305062" lvl="1">
              <a:lnSpc>
                <a:spcPts val="3956"/>
              </a:lnSpc>
              <a:buFont typeface="Arial"/>
              <a:buChar char="•"/>
            </a:pPr>
            <a:r>
              <a:rPr lang="en-US" sz="2825" spc="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Las ciudades inteligentes utilizan la tecnología para mejorar la calidad de vida de las personas.</a:t>
            </a:r>
          </a:p>
          <a:p>
            <a:pPr algn="l" marL="610125" indent="-305062" lvl="1">
              <a:lnSpc>
                <a:spcPts val="3956"/>
              </a:lnSpc>
              <a:buFont typeface="Arial"/>
              <a:buChar char="•"/>
            </a:pPr>
            <a:r>
              <a:rPr lang="en-US" sz="2825" spc="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Girardot ofrece grandes oportunidades para desarrollar soluciones de software.</a:t>
            </a:r>
          </a:p>
          <a:p>
            <a:pPr algn="l" marL="610125" indent="-305062" lvl="1">
              <a:lnSpc>
                <a:spcPts val="3956"/>
              </a:lnSpc>
              <a:buFont typeface="Arial"/>
              <a:buChar char="•"/>
            </a:pPr>
            <a:r>
              <a:rPr lang="en-US" sz="2825" spc="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Knowland es una propuesta innovadora que combina educación, tecnología y entretenimiento para fortalecer el aprendizaje del idioma inglés.</a:t>
            </a:r>
          </a:p>
          <a:p>
            <a:pPr algn="l">
              <a:lnSpc>
                <a:spcPts val="395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63393" y="2355800"/>
            <a:ext cx="13637306" cy="176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37"/>
              </a:lnSpc>
            </a:pPr>
            <a:r>
              <a:rPr lang="en-US" b="true" sz="1038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CONCLUSIONES</a:t>
            </a:r>
          </a:p>
        </p:txBody>
      </p:sp>
      <p:sp>
        <p:nvSpPr>
          <p:cNvPr name="AutoShape 4" id="4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95862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3502178" y="4652264"/>
            <a:ext cx="11384653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51673" y="2796256"/>
            <a:ext cx="11384653" cy="196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5"/>
              </a:lnSpc>
              <a:spcBef>
                <a:spcPct val="0"/>
              </a:spcBef>
            </a:pPr>
            <a:r>
              <a:rPr lang="en-US" sz="14845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Muchas</a:t>
            </a: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BC8D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628186" y="4083557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57706" y="4101211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DAHOI6SO5tU</dc:identifier>
  <dcterms:modified xsi:type="dcterms:W3CDTF">2011-08-01T06:04:30Z</dcterms:modified>
  <cp:revision>1</cp:revision>
  <dc:title>knowland  investigacion</dc:title>
</cp:coreProperties>
</file>